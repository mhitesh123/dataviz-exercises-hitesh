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9FC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VISUALIZATION  ·  FINAL INDIVIDUAL PROJECT  ·  SUMMER 2026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Steam Marketplace,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2004–2018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794760"/>
            <a:ext cx="8961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Pricing, popularity, and quality across 26,643 real Steam releases — and what they reveal about how the PC games market industrialized.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for: Data Visualization Course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92640" y="914400"/>
            <a:ext cx="73152" cy="73152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7" name="Shape 5"/>
          <p:cNvSpPr/>
          <p:nvPr/>
        </p:nvSpPr>
        <p:spPr>
          <a:xfrm>
            <a:off x="9948672" y="914400"/>
            <a:ext cx="73152" cy="73152"/>
          </a:xfrm>
          <a:prstGeom prst="ellipse">
            <a:avLst/>
          </a:prstGeom>
          <a:solidFill>
            <a:srgbClr val="3C6E9E"/>
          </a:solidFill>
          <a:ln/>
        </p:spPr>
      </p:sp>
      <p:sp>
        <p:nvSpPr>
          <p:cNvPr id="8" name="Shape 6"/>
          <p:cNvSpPr/>
          <p:nvPr/>
        </p:nvSpPr>
        <p:spPr>
          <a:xfrm>
            <a:off x="10204704" y="914400"/>
            <a:ext cx="73152" cy="73152"/>
          </a:xfrm>
          <a:prstGeom prst="ellipse">
            <a:avLst/>
          </a:prstGeom>
          <a:solidFill>
            <a:srgbClr val="3C6E9E"/>
          </a:solidFill>
          <a:ln/>
        </p:spPr>
      </p:sp>
      <p:sp>
        <p:nvSpPr>
          <p:cNvPr id="9" name="Shape 7"/>
          <p:cNvSpPr/>
          <p:nvPr/>
        </p:nvSpPr>
        <p:spPr>
          <a:xfrm>
            <a:off x="10460736" y="914400"/>
            <a:ext cx="73152" cy="73152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10" name="Shape 8"/>
          <p:cNvSpPr/>
          <p:nvPr/>
        </p:nvSpPr>
        <p:spPr>
          <a:xfrm>
            <a:off x="10716768" y="914400"/>
            <a:ext cx="73152" cy="73152"/>
          </a:xfrm>
          <a:prstGeom prst="ellipse">
            <a:avLst/>
          </a:prstGeom>
          <a:solidFill>
            <a:srgbClr val="3C6E9E"/>
          </a:solidFill>
          <a:ln/>
        </p:spPr>
      </p:sp>
      <p:sp>
        <p:nvSpPr>
          <p:cNvPr id="11" name="Shape 9"/>
          <p:cNvSpPr/>
          <p:nvPr/>
        </p:nvSpPr>
        <p:spPr>
          <a:xfrm>
            <a:off x="10972800" y="914400"/>
            <a:ext cx="73152" cy="73152"/>
          </a:xfrm>
          <a:prstGeom prst="ellipse">
            <a:avLst/>
          </a:prstGeom>
          <a:solidFill>
            <a:srgbClr val="3C6E9E"/>
          </a:solidFill>
          <a:ln/>
        </p:spPr>
      </p:sp>
      <p:sp>
        <p:nvSpPr>
          <p:cNvPr id="12" name="Shape 10"/>
          <p:cNvSpPr/>
          <p:nvPr/>
        </p:nvSpPr>
        <p:spPr>
          <a:xfrm>
            <a:off x="11228832" y="914400"/>
            <a:ext cx="73152" cy="73152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484864" y="914400"/>
            <a:ext cx="73152" cy="73152"/>
          </a:xfrm>
          <a:prstGeom prst="ellipse">
            <a:avLst/>
          </a:prstGeom>
          <a:solidFill>
            <a:srgbClr val="3C6E9E"/>
          </a:solidFill>
          <a:ln/>
        </p:spPr>
      </p:sp>
      <p:sp>
        <p:nvSpPr>
          <p:cNvPr id="14" name="Shape 12"/>
          <p:cNvSpPr/>
          <p:nvPr/>
        </p:nvSpPr>
        <p:spPr>
          <a:xfrm>
            <a:off x="9692640" y="1170432"/>
            <a:ext cx="73152" cy="73152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15" name="Shape 13"/>
          <p:cNvSpPr/>
          <p:nvPr/>
        </p:nvSpPr>
        <p:spPr>
          <a:xfrm>
            <a:off x="9948672" y="1170432"/>
            <a:ext cx="73152" cy="73152"/>
          </a:xfrm>
          <a:prstGeom prst="ellipse">
            <a:avLst/>
          </a:prstGeom>
          <a:solidFill>
            <a:srgbClr val="3C6E9E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04704" y="1170432"/>
            <a:ext cx="73152" cy="73152"/>
          </a:xfrm>
          <a:prstGeom prst="ellipse">
            <a:avLst/>
          </a:prstGeom>
          <a:solidFill>
            <a:srgbClr val="3C6E9E"/>
          </a:solidFill>
          <a:ln/>
        </p:spPr>
      </p:sp>
      <p:sp>
        <p:nvSpPr>
          <p:cNvPr id="17" name="Shape 15"/>
          <p:cNvSpPr/>
          <p:nvPr/>
        </p:nvSpPr>
        <p:spPr>
          <a:xfrm>
            <a:off x="10460736" y="1170432"/>
            <a:ext cx="73152" cy="73152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18" name="Shape 16"/>
          <p:cNvSpPr/>
          <p:nvPr/>
        </p:nvSpPr>
        <p:spPr>
          <a:xfrm>
            <a:off x="10716768" y="1170432"/>
            <a:ext cx="73152" cy="73152"/>
          </a:xfrm>
          <a:prstGeom prst="ellipse">
            <a:avLst/>
          </a:prstGeom>
          <a:solidFill>
            <a:srgbClr val="3C6E9E"/>
          </a:solidFill>
          <a:ln/>
        </p:spPr>
      </p:sp>
      <p:sp>
        <p:nvSpPr>
          <p:cNvPr id="19" name="Shape 17"/>
          <p:cNvSpPr/>
          <p:nvPr/>
        </p:nvSpPr>
        <p:spPr>
          <a:xfrm>
            <a:off x="10972800" y="1170432"/>
            <a:ext cx="73152" cy="73152"/>
          </a:xfrm>
          <a:prstGeom prst="ellipse">
            <a:avLst/>
          </a:prstGeom>
          <a:solidFill>
            <a:srgbClr val="3C6E9E"/>
          </a:solidFill>
          <a:ln/>
        </p:spPr>
      </p:sp>
      <p:sp>
        <p:nvSpPr>
          <p:cNvPr id="20" name="Shape 18"/>
          <p:cNvSpPr/>
          <p:nvPr/>
        </p:nvSpPr>
        <p:spPr>
          <a:xfrm>
            <a:off x="11228832" y="1170432"/>
            <a:ext cx="73152" cy="73152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21" name="Shape 19"/>
          <p:cNvSpPr/>
          <p:nvPr/>
        </p:nvSpPr>
        <p:spPr>
          <a:xfrm>
            <a:off x="11484864" y="1170432"/>
            <a:ext cx="73152" cy="73152"/>
          </a:xfrm>
          <a:prstGeom prst="ellipse">
            <a:avLst/>
          </a:prstGeom>
          <a:solidFill>
            <a:srgbClr val="3C6E9E"/>
          </a:solidFill>
          <a:ln/>
        </p:spPr>
      </p:sp>
      <p:sp>
        <p:nvSpPr>
          <p:cNvPr id="22" name="Shape 20"/>
          <p:cNvSpPr/>
          <p:nvPr/>
        </p:nvSpPr>
        <p:spPr>
          <a:xfrm>
            <a:off x="9692640" y="1426464"/>
            <a:ext cx="73152" cy="73152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23" name="Shape 21"/>
          <p:cNvSpPr/>
          <p:nvPr/>
        </p:nvSpPr>
        <p:spPr>
          <a:xfrm>
            <a:off x="9948672" y="1426464"/>
            <a:ext cx="73152" cy="73152"/>
          </a:xfrm>
          <a:prstGeom prst="ellipse">
            <a:avLst/>
          </a:prstGeom>
          <a:solidFill>
            <a:srgbClr val="3C6E9E"/>
          </a:solidFill>
          <a:ln/>
        </p:spPr>
      </p:sp>
      <p:sp>
        <p:nvSpPr>
          <p:cNvPr id="24" name="Shape 22"/>
          <p:cNvSpPr/>
          <p:nvPr/>
        </p:nvSpPr>
        <p:spPr>
          <a:xfrm>
            <a:off x="10204704" y="1426464"/>
            <a:ext cx="73152" cy="73152"/>
          </a:xfrm>
          <a:prstGeom prst="ellipse">
            <a:avLst/>
          </a:prstGeom>
          <a:solidFill>
            <a:srgbClr val="3C6E9E"/>
          </a:solidFill>
          <a:ln/>
        </p:spPr>
      </p:sp>
      <p:sp>
        <p:nvSpPr>
          <p:cNvPr id="25" name="Shape 23"/>
          <p:cNvSpPr/>
          <p:nvPr/>
        </p:nvSpPr>
        <p:spPr>
          <a:xfrm>
            <a:off x="10460736" y="1426464"/>
            <a:ext cx="73152" cy="73152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26" name="Shape 24"/>
          <p:cNvSpPr/>
          <p:nvPr/>
        </p:nvSpPr>
        <p:spPr>
          <a:xfrm>
            <a:off x="10716768" y="1426464"/>
            <a:ext cx="73152" cy="73152"/>
          </a:xfrm>
          <a:prstGeom prst="ellipse">
            <a:avLst/>
          </a:prstGeom>
          <a:solidFill>
            <a:srgbClr val="3C6E9E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0" y="1426464"/>
            <a:ext cx="73152" cy="73152"/>
          </a:xfrm>
          <a:prstGeom prst="ellipse">
            <a:avLst/>
          </a:prstGeom>
          <a:solidFill>
            <a:srgbClr val="3C6E9E"/>
          </a:solidFill>
          <a:ln/>
        </p:spPr>
      </p:sp>
      <p:sp>
        <p:nvSpPr>
          <p:cNvPr id="28" name="Shape 26"/>
          <p:cNvSpPr/>
          <p:nvPr/>
        </p:nvSpPr>
        <p:spPr>
          <a:xfrm>
            <a:off x="11228832" y="1426464"/>
            <a:ext cx="73152" cy="73152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29" name="Shape 27"/>
          <p:cNvSpPr/>
          <p:nvPr/>
        </p:nvSpPr>
        <p:spPr>
          <a:xfrm>
            <a:off x="11484864" y="1426464"/>
            <a:ext cx="73152" cy="73152"/>
          </a:xfrm>
          <a:prstGeom prst="ellipse">
            <a:avLst/>
          </a:prstGeom>
          <a:solidFill>
            <a:srgbClr val="3C6E9E"/>
          </a:solidFill>
          <a:ln/>
        </p:spPr>
      </p:sp>
      <p:sp>
        <p:nvSpPr>
          <p:cNvPr id="30" name="Shape 28"/>
          <p:cNvSpPr/>
          <p:nvPr/>
        </p:nvSpPr>
        <p:spPr>
          <a:xfrm>
            <a:off x="9692640" y="1682496"/>
            <a:ext cx="73152" cy="73152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31" name="Shape 29"/>
          <p:cNvSpPr/>
          <p:nvPr/>
        </p:nvSpPr>
        <p:spPr>
          <a:xfrm>
            <a:off x="9948672" y="1682496"/>
            <a:ext cx="73152" cy="73152"/>
          </a:xfrm>
          <a:prstGeom prst="ellipse">
            <a:avLst/>
          </a:prstGeom>
          <a:solidFill>
            <a:srgbClr val="3C6E9E"/>
          </a:solidFill>
          <a:ln/>
        </p:spPr>
      </p:sp>
      <p:sp>
        <p:nvSpPr>
          <p:cNvPr id="32" name="Shape 30"/>
          <p:cNvSpPr/>
          <p:nvPr/>
        </p:nvSpPr>
        <p:spPr>
          <a:xfrm>
            <a:off x="10204704" y="1682496"/>
            <a:ext cx="73152" cy="73152"/>
          </a:xfrm>
          <a:prstGeom prst="ellipse">
            <a:avLst/>
          </a:prstGeom>
          <a:solidFill>
            <a:srgbClr val="3C6E9E"/>
          </a:solidFill>
          <a:ln/>
        </p:spPr>
      </p:sp>
      <p:sp>
        <p:nvSpPr>
          <p:cNvPr id="33" name="Shape 31"/>
          <p:cNvSpPr/>
          <p:nvPr/>
        </p:nvSpPr>
        <p:spPr>
          <a:xfrm>
            <a:off x="10460736" y="1682496"/>
            <a:ext cx="73152" cy="73152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34" name="Shape 32"/>
          <p:cNvSpPr/>
          <p:nvPr/>
        </p:nvSpPr>
        <p:spPr>
          <a:xfrm>
            <a:off x="10716768" y="1682496"/>
            <a:ext cx="73152" cy="73152"/>
          </a:xfrm>
          <a:prstGeom prst="ellipse">
            <a:avLst/>
          </a:prstGeom>
          <a:solidFill>
            <a:srgbClr val="3C6E9E"/>
          </a:solidFill>
          <a:ln/>
        </p:spPr>
      </p:sp>
      <p:sp>
        <p:nvSpPr>
          <p:cNvPr id="35" name="Shape 33"/>
          <p:cNvSpPr/>
          <p:nvPr/>
        </p:nvSpPr>
        <p:spPr>
          <a:xfrm>
            <a:off x="10972800" y="1682496"/>
            <a:ext cx="73152" cy="73152"/>
          </a:xfrm>
          <a:prstGeom prst="ellipse">
            <a:avLst/>
          </a:prstGeom>
          <a:solidFill>
            <a:srgbClr val="3C6E9E"/>
          </a:solidFill>
          <a:ln/>
        </p:spPr>
      </p:sp>
      <p:sp>
        <p:nvSpPr>
          <p:cNvPr id="36" name="Shape 34"/>
          <p:cNvSpPr/>
          <p:nvPr/>
        </p:nvSpPr>
        <p:spPr>
          <a:xfrm>
            <a:off x="11228832" y="1682496"/>
            <a:ext cx="73152" cy="73152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37" name="Shape 35"/>
          <p:cNvSpPr/>
          <p:nvPr/>
        </p:nvSpPr>
        <p:spPr>
          <a:xfrm>
            <a:off x="11484864" y="1682496"/>
            <a:ext cx="73152" cy="73152"/>
          </a:xfrm>
          <a:prstGeom prst="ellipse">
            <a:avLst/>
          </a:prstGeom>
          <a:solidFill>
            <a:srgbClr val="3C6E9E"/>
          </a:solidFill>
          <a:ln/>
        </p:spPr>
      </p:sp>
      <p:sp>
        <p:nvSpPr>
          <p:cNvPr id="38" name="Shape 36"/>
          <p:cNvSpPr/>
          <p:nvPr/>
        </p:nvSpPr>
        <p:spPr>
          <a:xfrm>
            <a:off x="9692640" y="1938528"/>
            <a:ext cx="73152" cy="73152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39" name="Shape 37"/>
          <p:cNvSpPr/>
          <p:nvPr/>
        </p:nvSpPr>
        <p:spPr>
          <a:xfrm>
            <a:off x="9948672" y="1938528"/>
            <a:ext cx="73152" cy="73152"/>
          </a:xfrm>
          <a:prstGeom prst="ellipse">
            <a:avLst/>
          </a:prstGeom>
          <a:solidFill>
            <a:srgbClr val="3C6E9E"/>
          </a:solidFill>
          <a:ln/>
        </p:spPr>
      </p:sp>
      <p:sp>
        <p:nvSpPr>
          <p:cNvPr id="40" name="Shape 38"/>
          <p:cNvSpPr/>
          <p:nvPr/>
        </p:nvSpPr>
        <p:spPr>
          <a:xfrm>
            <a:off x="10204704" y="1938528"/>
            <a:ext cx="73152" cy="73152"/>
          </a:xfrm>
          <a:prstGeom prst="ellipse">
            <a:avLst/>
          </a:prstGeom>
          <a:solidFill>
            <a:srgbClr val="3C6E9E"/>
          </a:solidFill>
          <a:ln/>
        </p:spPr>
      </p:sp>
      <p:sp>
        <p:nvSpPr>
          <p:cNvPr id="41" name="Shape 39"/>
          <p:cNvSpPr/>
          <p:nvPr/>
        </p:nvSpPr>
        <p:spPr>
          <a:xfrm>
            <a:off x="10460736" y="1938528"/>
            <a:ext cx="73152" cy="73152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42" name="Shape 40"/>
          <p:cNvSpPr/>
          <p:nvPr/>
        </p:nvSpPr>
        <p:spPr>
          <a:xfrm>
            <a:off x="10716768" y="1938528"/>
            <a:ext cx="73152" cy="73152"/>
          </a:xfrm>
          <a:prstGeom prst="ellipse">
            <a:avLst/>
          </a:prstGeom>
          <a:solidFill>
            <a:srgbClr val="3C6E9E"/>
          </a:solidFill>
          <a:ln/>
        </p:spPr>
      </p:sp>
      <p:sp>
        <p:nvSpPr>
          <p:cNvPr id="43" name="Shape 41"/>
          <p:cNvSpPr/>
          <p:nvPr/>
        </p:nvSpPr>
        <p:spPr>
          <a:xfrm>
            <a:off x="10972800" y="1938528"/>
            <a:ext cx="73152" cy="73152"/>
          </a:xfrm>
          <a:prstGeom prst="ellipse">
            <a:avLst/>
          </a:prstGeom>
          <a:solidFill>
            <a:srgbClr val="3C6E9E"/>
          </a:solidFill>
          <a:ln/>
        </p:spPr>
      </p:sp>
      <p:sp>
        <p:nvSpPr>
          <p:cNvPr id="44" name="Shape 42"/>
          <p:cNvSpPr/>
          <p:nvPr/>
        </p:nvSpPr>
        <p:spPr>
          <a:xfrm>
            <a:off x="11228832" y="1938528"/>
            <a:ext cx="73152" cy="73152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45" name="Shape 43"/>
          <p:cNvSpPr/>
          <p:nvPr/>
        </p:nvSpPr>
        <p:spPr>
          <a:xfrm>
            <a:off x="11484864" y="1938528"/>
            <a:ext cx="73152" cy="73152"/>
          </a:xfrm>
          <a:prstGeom prst="ellipse">
            <a:avLst/>
          </a:prstGeom>
          <a:solidFill>
            <a:srgbClr val="3C6E9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55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dataset. Twelve questions. One story.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51760" cy="42062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031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2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real dataset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42900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26,643 Steam games (2004–2018), scraped from Steam/SteamSpy via TidyTuesday — real-world, rich, and varied.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29000" y="1828800"/>
            <a:ext cx="2651760" cy="42062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21031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2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0" y="27432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analytical questions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0" y="342900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multi-dimensional questions relating price, ownership, playtime, quality, and time.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2651760" cy="42062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21031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2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537960" y="27432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publication visuals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342900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Plotly figures — CVD-safe, decluttered, explanatory titles — in a Jupyter notebook.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89720" y="1828800"/>
            <a:ext cx="2651760" cy="42062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7" name="Text 15"/>
          <p:cNvSpPr/>
          <p:nvPr/>
        </p:nvSpPr>
        <p:spPr>
          <a:xfrm>
            <a:off x="9418320" y="21031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2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418320" y="27432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an interactive dashboard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418320" y="342900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4-tab Streamlit app with live filters, deployed on Streamlit Community Cloud.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Individual Project  ·  Data Visualization  ·  Summer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55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26,643 games. Four attribute types. Fifteen years.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Steam Store + SteamSpy scrape, distributed via the R for Data Science community's TidyTuesday project (week of 2019-07-30). Real-world data, not a synthetic teaching set.</a:t>
            </a:r>
            <a:endParaRPr lang="en-US" sz="13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06040"/>
          <a:ext cx="7498080" cy="2926080"/>
        </p:xfrm>
        <a:graphic>
          <a:graphicData uri="http://schemas.openxmlformats.org/drawingml/2006/table">
            <a:tbl>
              <a:tblPr/>
              <a:tblGrid>
                <a:gridCol w="1828800"/>
                <a:gridCol w="566928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Attribute type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2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2B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Numerical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price, average_playtime, median_playtime, metascore, owners_est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Categorical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developer, publisher, owners (ordinal bracket), price_tier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Temporal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release_date, release_year, release_month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game (title) — length, word count, sequel/edition markers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503920" y="1417320"/>
            <a:ext cx="3108960" cy="11887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" name="Text 4"/>
          <p:cNvSpPr/>
          <p:nvPr/>
        </p:nvSpPr>
        <p:spPr>
          <a:xfrm>
            <a:off x="8732520" y="152704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2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26,643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732520" y="2103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games analyzed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503920" y="2834640"/>
            <a:ext cx="3108960" cy="11887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0" name="Text 7"/>
          <p:cNvSpPr/>
          <p:nvPr/>
        </p:nvSpPr>
        <p:spPr>
          <a:xfrm>
            <a:off x="8732520" y="294436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2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2004–2018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732520" y="3520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release-year span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503920" y="4251960"/>
            <a:ext cx="3108960" cy="11887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3" name="Text 10"/>
          <p:cNvSpPr/>
          <p:nvPr/>
        </p:nvSpPr>
        <p:spPr>
          <a:xfrm>
            <a:off x="8732520" y="436168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2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~10.7%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732520" y="49377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a Metacritic score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Individual Project  ·  Data Visualization  ·  Summer 2026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55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scrape to analysis-ready table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0072B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5544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&amp; filter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965960"/>
            <a:ext cx="4800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Parsed release_date; kept 2004–2018 full calendar years to avoid partial-year 2019 bias.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600200"/>
            <a:ext cx="457200" cy="457200"/>
          </a:xfrm>
          <a:prstGeom prst="ellipse">
            <a:avLst/>
          </a:prstGeom>
          <a:solidFill>
            <a:srgbClr val="0072B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95160" y="15544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a hidden bug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95160" y="1965960"/>
            <a:ext cx="4800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owners column used non-breaking spaces (\xa0) instead of regular spaces — silently broke every category match until caught and normalized.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0072B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37033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 features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4114800"/>
            <a:ext cx="4800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price_tier (5 bins), owners_est (bracket midpoint), title text stats, developer/publisher catalog size, playtime-skew index.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3749040"/>
            <a:ext cx="457200" cy="457200"/>
          </a:xfrm>
          <a:prstGeom prst="ellipse">
            <a:avLst/>
          </a:prstGeom>
          <a:solidFill>
            <a:srgbClr val="0072B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95160" y="37033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missingness honestly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95160" y="4114800"/>
            <a:ext cx="4800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metascore = 0 recoded as missing (not “bad”); has_critic_score flag added instead of silently imputing.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Individual Project  ·  Data Visualization  ·  Summer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55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· MARKET GROWTH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 grew 30× while the typical price was cut in half</a:t>
            </a:r>
            <a:endParaRPr lang="en-US" sz="2400" dirty="0"/>
          </a:p>
        </p:txBody>
      </p:sp>
      <p:pic>
        <p:nvPicPr>
          <p:cNvPr id="4" name="Image 0" descr="/home/claude/project/presentation/charts/q1_volume_pr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863840" cy="4663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0" y="1371600"/>
            <a:ext cx="3017520" cy="466344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915400" y="1600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915400" y="1965960"/>
            <a:ext cx="25603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Steam releases exploded from dozens in the mid-2000s to nearly 9,000 by 2018, driven by Greenlight/Direct opening the platform to indie developers. Median launch price fell from ~$10– 15 to under $6 over the same period — the market shifted from scarce &amp; premium to abundant &amp; cheap.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Individual Project  ·  Data Visualization  ·  Summer 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55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· MARKET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publishers (of ~14,000) control a huge share of the market</a:t>
            </a:r>
            <a:endParaRPr lang="en-US" sz="2400" dirty="0"/>
          </a:p>
        </p:txBody>
      </p:sp>
      <p:pic>
        <p:nvPicPr>
          <p:cNvPr id="4" name="Image 0" descr="/home/claude/project/presentation/charts/q4_publisher_concen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863840" cy="4663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0" y="1371600"/>
            <a:ext cx="3017520" cy="466344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915400" y="1600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915400" y="1965960"/>
            <a:ext cx="25603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classic long-tail market. Valve and a handful of major publishers hold a disproportionate share of total estimated ownership, while tens of thousands of small publishers each hold a sliver of the pie.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Individual Project  ·  Data Visualization  ·  Summer 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55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· ENGAGEMENT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Popularity — not price — drives playtime</a:t>
            </a:r>
            <a:endParaRPr lang="en-US" sz="2400" dirty="0"/>
          </a:p>
        </p:txBody>
      </p:sp>
      <p:pic>
        <p:nvPicPr>
          <p:cNvPr id="4" name="Image 0" descr="/home/claude/project/presentation/charts/q3_price_engag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863840" cy="4663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0" y="1371600"/>
            <a:ext cx="3017520" cy="466344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915400" y="1600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915400" y="1965960"/>
            <a:ext cx="25603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every price tier, “Hit” games rack up far more average playtime than niche titles at the same price point. Paying more does not reliably buy more engagement — popularity dominates.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Individual Project  ·  Data Visualization  ·  Summer 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55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 · DISCOVERY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cluster of ‘hidden gems’ scores well but reaches few players</a:t>
            </a:r>
            <a:endParaRPr lang="en-US" sz="2400" dirty="0"/>
          </a:p>
        </p:txBody>
      </p:sp>
      <p:pic>
        <p:nvPicPr>
          <p:cNvPr id="4" name="Image 0" descr="/home/claude/project/presentation/charts/q6_hidden_ge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86384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0" y="1371600"/>
            <a:ext cx="3017520" cy="466344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915400" y="1600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915400" y="1965960"/>
            <a:ext cx="25603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meaningful share of critically strong games never find a large audience. Steam's discovery problem is real — quality alone is far from sufficient for commercial reach.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Individual Project  ·  Data Visualization  ·  Summer 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55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Q11 · LONG TAIL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2018, over 8 in 10 new releases failed to reach 20K owners</a:t>
            </a:r>
            <a:endParaRPr lang="en-US" sz="2400" dirty="0"/>
          </a:p>
        </p:txBody>
      </p:sp>
      <p:pic>
        <p:nvPicPr>
          <p:cNvPr id="4" name="Image 0" descr="/home/claude/project/presentation/charts/q11_market_floo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863840" cy="4663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0" y="1371600"/>
            <a:ext cx="3017520" cy="466344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915400" y="1600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915400" y="1965960"/>
            <a:ext cx="25603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releases multiplied post-2014, the share of games stuck in the lowest ownership bracket rose sharply. More releases chasing a similarly sized player base means the median new game is increasingly likely to go unnoticed.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Individual Project  ·  Data Visualization  ·  Summer 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55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Q12 · CATALOG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Cheap-and-niche is the default state of the catalog</a:t>
            </a:r>
            <a:endParaRPr lang="en-US" sz="2400" dirty="0"/>
          </a:p>
        </p:txBody>
      </p:sp>
      <p:pic>
        <p:nvPicPr>
          <p:cNvPr id="4" name="Image 0" descr="/home/claude/project/presentation/charts/q12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863840" cy="4663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0" y="1371600"/>
            <a:ext cx="3017520" cy="466344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915400" y="1600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915400" y="1965960"/>
            <a:ext cx="25603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overwhelming majority of games sit in the “Budget/Free × under 20,000 owners” cell. Commercial hits appear at every price tier, but they are rare outliers against a backdrop of inexpensive, low-visibility releases.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Individual Project  ·  Data Visualization  ·  Summer 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55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it yourself — live on Streamlit Community Cloud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51760" cy="274320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Overview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Volume/price trend, long-tail growth, publisher concentration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600200"/>
            <a:ext cx="2651760" cy="274320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18288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💵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11880" y="2468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&amp; Engagement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11880" y="297180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vs. playtime, audience polarization, sequel premium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600200"/>
            <a:ext cx="2651760" cy="274320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8288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⭐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92240" y="2468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&amp; Discovery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297180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gems quadrant, developer scale vs. quality, score-playtime curve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89720" y="1600200"/>
            <a:ext cx="2651760" cy="274320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7" name="Text 15"/>
          <p:cNvSpPr/>
          <p:nvPr/>
        </p:nvSpPr>
        <p:spPr>
          <a:xfrm>
            <a:off x="9372600" y="18288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🔎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372600" y="2468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the Data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72600" y="297180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Price×popularity heatmap, sortable table, CSV download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663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chart on every tab responds live to sidebar filters: release-year range, price tier, popularity tier, Metacritic-reviewed toggle, and publisher search.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349240"/>
            <a:ext cx="10515600" cy="822960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4864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URL:  </a:t>
            </a:r>
            <a:pPr indent="0" marL="0">
              <a:buNone/>
            </a:pPr>
            <a:r>
              <a:rPr lang="en-US" sz="1300" i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&lt;paste your Streamlit Community Cloud URL here after deploying&gt;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5806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repo:  </a:t>
            </a:r>
            <a:pPr indent="0" marL="0">
              <a:buNone/>
            </a:pPr>
            <a:r>
              <a:rPr lang="en-US" sz="1300" i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&lt;paste your public GitHub repo URL here&gt;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Individual Project  ·  Data Visualization  ·  Summer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55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twelve questions on one catalog add up 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3152" cy="868680"/>
          </a:xfrm>
          <a:prstGeom prst="rect">
            <a:avLst/>
          </a:prstGeom>
          <a:solidFill>
            <a:srgbClr val="0072B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industrialized.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846320" y="169164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 grew ~30× while median prices fell by more than half — curated &amp; premium became open &amp; high-volume.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73152" cy="868680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43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Popularity beats price.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0" y="274320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 games out-engage niche titles at every price point; paying more doesn't reliably buy more playtime.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73152" cy="868680"/>
          </a:xfrm>
          <a:prstGeom prst="rect">
            <a:avLst/>
          </a:prstGeom>
          <a:solidFill>
            <a:srgbClr val="D55E0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94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winner-take-most.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379476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handful of publishers dominate ownership, sequels command a persistent premium, and hidden gems are common.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73152" cy="868680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8463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Abundance has a cost.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46320" y="484632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releases multiplied post-2014, the share of games that never reach 20,000 owners rose sharply.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Individual Project  ·  Data Visualization  ·  Summer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FC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Ownership &amp; playtime are SteamSpy estimates — subject to API changes and player privacy settings.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Metacritic coverage is sparse (~10.7% of titles), so quality-based findings lean on a smaller subset.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Snapshot ends in 2019 — predates recent shifts in Steam's discovery algorithm and the 2020s indie boom.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analysis, code, and data cleaning steps: notebook/Final_Project_Analysis.ipynb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5262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dashboard: &lt;Streamlit Community Cloud URL&gt;   •   Source: &lt;GitHub repo URL&gt;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Individual Project  ·  Data Visualization  ·  Summer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2026-07-30T06:20:21Z</dcterms:created>
  <dcterms:modified xsi:type="dcterms:W3CDTF">2026-07-30T06:20:21Z</dcterms:modified>
</cp:coreProperties>
</file>